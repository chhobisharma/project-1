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3" r:id="rId10"/>
    <p:sldId id="264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456161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332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35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407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0200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750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6593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7016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7178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608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9440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7364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7698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5915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2458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2743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380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906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Automated Demand Analysis &amp; Strategy: Bike-Sharing Program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Uncovering Time, User, and Weather-Based Rental Patterns</a:t>
            </a:r>
            <a:endParaRPr lang="en-IN" dirty="0"/>
          </a:p>
          <a:p>
            <a:r>
              <a:rPr lang="en-IN" dirty="0"/>
              <a:t>A project by Next Hike Solution</a:t>
            </a:r>
          </a:p>
          <a:p>
            <a:r>
              <a:rPr lang="en-IN" dirty="0"/>
              <a:t>Prepared by:</a:t>
            </a:r>
            <a:endParaRPr dirty="0"/>
          </a:p>
          <a:p>
            <a:r>
              <a:rPr dirty="0" err="1"/>
              <a:t>Chhobi</a:t>
            </a:r>
            <a:r>
              <a:rPr dirty="0"/>
              <a:t> Sharma / October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Executive Summary (The Takeaway)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dirty="0"/>
              <a:t>Headline: Core Insight: Demand is driven by Registered Commuters, peaking reliably at rush hours.</a:t>
            </a:r>
          </a:p>
          <a:p>
            <a:endParaRPr sz="1000" dirty="0"/>
          </a:p>
          <a:p>
            <a:r>
              <a:rPr dirty="0"/>
              <a:t>Key Finding 1 (Time): High-volume peaks occur at 8 AM and 5 PM (commute times).</a:t>
            </a:r>
          </a:p>
          <a:p>
            <a:r>
              <a:rPr dirty="0"/>
              <a:t>Key Finding 2 (User Type): Registered users are the primary revenue source, while Casual users dominate leisure time (weekends/holidays).</a:t>
            </a:r>
          </a:p>
          <a:p>
            <a:r>
              <a:rPr dirty="0"/>
              <a:t>Key Finding 3 (Weather): Temperature has a weak positive correlation with demand, while bad weather significantly reduces volume.</a:t>
            </a:r>
          </a:p>
          <a:p>
            <a:endParaRPr dirty="0"/>
          </a:p>
          <a:p>
            <a:r>
              <a:rPr dirty="0"/>
              <a:t>Main Recommendation: Implement dynamic fleet redistribution 30 minutes before each rush hour peak.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Project Goal &amp;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sz="2000" dirty="0"/>
              <a:t>Goal</a:t>
            </a:r>
            <a:r>
              <a:rPr lang="en-IN" sz="2000" dirty="0"/>
              <a:t>  </a:t>
            </a:r>
            <a:r>
              <a:rPr sz="2000" dirty="0"/>
              <a:t>: To build an automated reporting solution that identifies key drivers of rental demand for better operational planning.</a:t>
            </a:r>
          </a:p>
          <a:p>
            <a:endParaRPr sz="2000" dirty="0"/>
          </a:p>
          <a:p>
            <a:r>
              <a:rPr sz="2000" dirty="0"/>
              <a:t>Data Used: Hourly bike-sharing data (</a:t>
            </a:r>
            <a:r>
              <a:rPr sz="2000" dirty="0" err="1"/>
              <a:t>hr</a:t>
            </a:r>
            <a:r>
              <a:rPr sz="2000" dirty="0"/>
              <a:t>,</a:t>
            </a:r>
            <a:r>
              <a:rPr lang="en-IN" sz="2000" dirty="0"/>
              <a:t> </a:t>
            </a:r>
            <a:r>
              <a:rPr sz="2000" dirty="0" err="1"/>
              <a:t>cnt</a:t>
            </a:r>
            <a:r>
              <a:rPr lang="en-IN" sz="2000" dirty="0"/>
              <a:t> </a:t>
            </a:r>
            <a:r>
              <a:rPr sz="2000" dirty="0"/>
              <a:t>, </a:t>
            </a:r>
            <a:r>
              <a:rPr sz="2000" dirty="0" err="1"/>
              <a:t>weathersit</a:t>
            </a:r>
            <a:r>
              <a:rPr sz="2000" dirty="0"/>
              <a:t>, season).</a:t>
            </a:r>
          </a:p>
          <a:p>
            <a:endParaRPr sz="2000" dirty="0"/>
          </a:p>
          <a:p>
            <a:r>
              <a:rPr sz="2000" dirty="0"/>
              <a:t>Methodology:</a:t>
            </a:r>
          </a:p>
          <a:p>
            <a:r>
              <a:rPr sz="2000" dirty="0"/>
              <a:t>Data Cleaning &amp; Transformation (e.g., creating Season Name, </a:t>
            </a:r>
            <a:r>
              <a:rPr lang="en-IN" sz="2000" dirty="0"/>
              <a:t>          </a:t>
            </a:r>
            <a:r>
              <a:rPr sz="2000" dirty="0" err="1"/>
              <a:t>Weather_Desc</a:t>
            </a:r>
            <a:r>
              <a:rPr sz="2000" dirty="0"/>
              <a:t>).</a:t>
            </a:r>
          </a:p>
          <a:p>
            <a:r>
              <a:rPr sz="2000" dirty="0"/>
              <a:t>Advanced Analysis: Pivot Tables, Correlation Analysis, Custom Calculations (e.g., Total Rainy Day Rentals: 2,825).</a:t>
            </a:r>
          </a:p>
          <a:p>
            <a:r>
              <a:rPr lang="en-IN" sz="2000" dirty="0"/>
              <a:t>D</a:t>
            </a:r>
            <a:r>
              <a:rPr sz="2000" dirty="0" err="1"/>
              <a:t>eliverable</a:t>
            </a:r>
            <a:r>
              <a:rPr sz="2000" dirty="0"/>
              <a:t>: Automated Dashboard (Excel) and Strategic Report.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Finding 1: Hourly Demand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sz="2000" dirty="0"/>
              <a:t>Headline: Peak Demand is Commute-Driven</a:t>
            </a:r>
          </a:p>
          <a:p>
            <a:endParaRPr sz="2000" dirty="0"/>
          </a:p>
          <a:p>
            <a:r>
              <a:rPr sz="2000" dirty="0"/>
              <a:t>Key Points:</a:t>
            </a:r>
          </a:p>
          <a:p>
            <a:r>
              <a:rPr sz="2000" dirty="0"/>
              <a:t>Morning Peak (8 AM) and Evening Peak (5 PM).</a:t>
            </a:r>
          </a:p>
          <a:p>
            <a:r>
              <a:rPr sz="2000" dirty="0"/>
              <a:t>Sharp drop-off during 1 AM - 5 AM.</a:t>
            </a:r>
          </a:p>
          <a:p>
            <a:endParaRPr sz="2000" dirty="0"/>
          </a:p>
          <a:p>
            <a:r>
              <a:rPr sz="2000" dirty="0"/>
              <a:t>Strategic Implication: Ensure maximum inventory at high-demand stations during peak hours.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Finding 2: User Segmentation &amp; Behavior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sz="2000" dirty="0"/>
              <a:t>Headline: Registered Users are the Volume Base; Casual Users are Weekend/Leisure.</a:t>
            </a:r>
          </a:p>
          <a:p>
            <a:endParaRPr sz="2000" dirty="0"/>
          </a:p>
          <a:p>
            <a:r>
              <a:rPr sz="2000" dirty="0"/>
              <a:t>Key Points:</a:t>
            </a:r>
          </a:p>
          <a:p>
            <a:r>
              <a:rPr sz="2000" dirty="0"/>
              <a:t> Registered: High weekday use (especially Thursday/Friday).</a:t>
            </a:r>
          </a:p>
          <a:p>
            <a:r>
              <a:rPr sz="2000" dirty="0"/>
              <a:t> Casual: Higher use on Saturday/Sunday.</a:t>
            </a:r>
          </a:p>
          <a:p>
            <a:endParaRPr sz="2000" dirty="0"/>
          </a:p>
          <a:p>
            <a:r>
              <a:rPr sz="2000" dirty="0"/>
              <a:t>Strategic Implication: Target Registered users with loyalty programs; use weekend promotions for Casual users.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Finding 3: Environmental 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sz="2000" dirty="0"/>
              <a:t>Headline: Weather is a Deterrent; Temperature is a Minor Factor.</a:t>
            </a:r>
          </a:p>
          <a:p>
            <a:endParaRPr sz="2000" dirty="0"/>
          </a:p>
          <a:p>
            <a:r>
              <a:rPr sz="2000" dirty="0"/>
              <a:t>Key Points:</a:t>
            </a:r>
          </a:p>
          <a:p>
            <a:r>
              <a:rPr sz="2000" dirty="0"/>
              <a:t> Correlation: Temperature (+0.23), Humidity (-0.25).</a:t>
            </a:r>
          </a:p>
          <a:p>
            <a:r>
              <a:rPr sz="2000" dirty="0"/>
              <a:t> Bad weather drastically reduces demand (2,825 rentals on bad days).</a:t>
            </a:r>
          </a:p>
          <a:p>
            <a:endParaRPr sz="2000" dirty="0"/>
          </a:p>
          <a:p>
            <a:r>
              <a:rPr sz="2000" dirty="0"/>
              <a:t>Strategic Implication: Reduce staffing or shift to maintenance on predicted bad weather days.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569562"/>
          </a:xfrm>
        </p:spPr>
        <p:txBody>
          <a:bodyPr/>
          <a:lstStyle/>
          <a:p>
            <a:r>
              <a:rPr dirty="0"/>
              <a:t>The Automated Solution (The Dashboard)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Headline: Dynamic Reporting for Instant Decision-Making</a:t>
            </a:r>
          </a:p>
          <a:p>
            <a:endParaRPr sz="2000" dirty="0"/>
          </a:p>
          <a:p>
            <a:r>
              <a:rPr sz="2000" dirty="0"/>
              <a:t>Key Features:</a:t>
            </a:r>
          </a:p>
          <a:p>
            <a:r>
              <a:rPr sz="2000" dirty="0"/>
              <a:t>Interactivity: Slicers (</a:t>
            </a:r>
            <a:r>
              <a:rPr lang="en-IN" sz="2000" dirty="0"/>
              <a:t>Weather </a:t>
            </a:r>
            <a:r>
              <a:rPr lang="en-IN" sz="2000" dirty="0" err="1"/>
              <a:t>Desc</a:t>
            </a:r>
            <a:r>
              <a:rPr lang="en-IN" sz="2000" dirty="0"/>
              <a:t>.</a:t>
            </a:r>
            <a:r>
              <a:rPr sz="2000" dirty="0"/>
              <a:t>, Day of Week) for instant filtering.</a:t>
            </a:r>
          </a:p>
          <a:p>
            <a:r>
              <a:rPr sz="2000" dirty="0"/>
              <a:t>Automation: One-click data refresh for updates.</a:t>
            </a:r>
          </a:p>
          <a:p>
            <a:endParaRPr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B6F45-D4AD-46ED-16A5-2F41834EC6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5556673" cy="904972"/>
          </a:xfrm>
        </p:spPr>
        <p:txBody>
          <a:bodyPr>
            <a:normAutofit fontScale="90000"/>
          </a:bodyPr>
          <a:lstStyle/>
          <a:p>
            <a:r>
              <a:rPr lang="en-IN" dirty="0">
                <a:solidFill>
                  <a:srgbClr val="FF0000"/>
                </a:solidFill>
              </a:rPr>
              <a:t>DASHBOARD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675069-2783-987D-CB59-2E860715A78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D0D576-1353-C900-0A9A-5D73E9C3E8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34532"/>
            <a:ext cx="9144000" cy="5123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4632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060514"/>
          </a:xfrm>
        </p:spPr>
        <p:txBody>
          <a:bodyPr/>
          <a:lstStyle/>
          <a:p>
            <a:r>
              <a:rPr dirty="0"/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77971"/>
            <a:ext cx="8229600" cy="501505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2000" dirty="0"/>
              <a:t>Recommendation 1: Dynamic Fleet Management</a:t>
            </a:r>
          </a:p>
          <a:p>
            <a:pPr marL="0" indent="0">
              <a:buNone/>
            </a:pPr>
            <a:r>
              <a:rPr sz="2000" dirty="0"/>
              <a:t>• Action: Reallocate bikes from low-demand zones to high-demand zones at </a:t>
            </a:r>
            <a:r>
              <a:rPr lang="en-IN" sz="2000" dirty="0"/>
              <a:t>     </a:t>
            </a:r>
            <a:r>
              <a:rPr sz="2000" dirty="0"/>
              <a:t>7:30 AM and 4:30 PM.</a:t>
            </a:r>
          </a:p>
          <a:p>
            <a:pPr marL="0" indent="0">
              <a:buNone/>
            </a:pPr>
            <a:r>
              <a:rPr sz="2000" dirty="0"/>
              <a:t>• Benefit: Maximize availability during 8 AM / 5 PM peaks.</a:t>
            </a:r>
          </a:p>
          <a:p>
            <a:endParaRPr sz="2000" dirty="0"/>
          </a:p>
          <a:p>
            <a:pPr marL="0" indent="0">
              <a:buNone/>
            </a:pPr>
            <a:r>
              <a:rPr sz="2000" dirty="0"/>
              <a:t>Recommendation 2: Targeted Marketing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• Action: Weekend discounts to convert Casual use to subscriptions.</a:t>
            </a:r>
          </a:p>
          <a:p>
            <a:pPr marL="0" indent="0">
              <a:buNone/>
            </a:pPr>
            <a:r>
              <a:rPr lang="en-US" sz="2000" dirty="0"/>
              <a:t>• Benefit: Boost leisure revenue.</a:t>
            </a:r>
          </a:p>
          <a:p>
            <a:endParaRPr sz="2000" dirty="0"/>
          </a:p>
          <a:p>
            <a:pPr marL="0" indent="0">
              <a:buNone/>
            </a:pPr>
            <a:r>
              <a:rPr sz="2000" dirty="0"/>
              <a:t>Recommendation 3: Maintenance Scheduling</a:t>
            </a:r>
          </a:p>
          <a:p>
            <a:pPr marL="0" indent="0">
              <a:buNone/>
            </a:pPr>
            <a:r>
              <a:rPr sz="2000" dirty="0"/>
              <a:t>• Action: Schedule maintenance during low-demand hours or bad weather.</a:t>
            </a:r>
          </a:p>
          <a:p>
            <a:pPr marL="0" indent="0">
              <a:buNone/>
            </a:pPr>
            <a:r>
              <a:rPr sz="2000" dirty="0"/>
              <a:t>• Benefit: Minimize peak disruption.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Contact: </a:t>
            </a:r>
            <a:r>
              <a:rPr dirty="0" err="1"/>
              <a:t>Chhobi</a:t>
            </a:r>
            <a:r>
              <a:rPr dirty="0"/>
              <a:t> Sharma</a:t>
            </a:r>
          </a:p>
          <a:p>
            <a:r>
              <a:rPr dirty="0"/>
              <a:t>Phone: </a:t>
            </a:r>
            <a:r>
              <a:rPr lang="en-IN" dirty="0"/>
              <a:t>+91 </a:t>
            </a:r>
            <a:r>
              <a:rPr dirty="0"/>
              <a:t>8</a:t>
            </a:r>
            <a:r>
              <a:rPr lang="en-IN" dirty="0"/>
              <a:t>254824774</a:t>
            </a:r>
            <a:endParaRPr dirty="0"/>
          </a:p>
          <a:p>
            <a:r>
              <a:rPr dirty="0"/>
              <a:t>Thank You!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858</TotalTime>
  <Words>549</Words>
  <Application>Microsoft Office PowerPoint</Application>
  <PresentationFormat>On-screen Show (4:3)</PresentationFormat>
  <Paragraphs>69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Corbel</vt:lpstr>
      <vt:lpstr>Parallax</vt:lpstr>
      <vt:lpstr>Automated Demand Analysis &amp; Strategy: Bike-Sharing Program</vt:lpstr>
      <vt:lpstr>Executive Summary (The Takeaway)</vt:lpstr>
      <vt:lpstr>Project Goal &amp; Methodology</vt:lpstr>
      <vt:lpstr>Finding 1: Hourly Demand Pattern</vt:lpstr>
      <vt:lpstr>Finding 2: User Segmentation &amp; Behavior</vt:lpstr>
      <vt:lpstr>Finding 3: Environmental Factors</vt:lpstr>
      <vt:lpstr>The Automated Solution (The Dashboard)</vt:lpstr>
      <vt:lpstr>DASHBOARD</vt:lpstr>
      <vt:lpstr>Strategic Recommendations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KTIPL</dc:creator>
  <cp:keywords/>
  <dc:description>generated using python-pptx</dc:description>
  <cp:lastModifiedBy>KAMARPUKHURI TEA</cp:lastModifiedBy>
  <cp:revision>11</cp:revision>
  <dcterms:created xsi:type="dcterms:W3CDTF">2013-01-27T09:14:16Z</dcterms:created>
  <dcterms:modified xsi:type="dcterms:W3CDTF">2025-10-22T17:15:21Z</dcterms:modified>
  <cp:category/>
</cp:coreProperties>
</file>